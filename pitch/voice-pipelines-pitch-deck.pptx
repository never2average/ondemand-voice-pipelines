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0"/>
              </a:spcAft>
              <a:defRPr sz="4400" b="1">
                <a:solidFill>
                  <a:srgbClr val="F0F0F0"/>
                </a:solidFill>
                <a:latin typeface="Calibri"/>
              </a:defRPr>
            </a:pPr>
            <a:r>
              <a:t>Self-Improving Voice ETL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4EC9B0"/>
                </a:solidFill>
                <a:latin typeface="Calibri"/>
              </a:defRPr>
            </a:pPr>
            <a:r>
              <a:t>From prompt-and-pray to continuous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B0"/>
                </a:solidFill>
                <a:latin typeface="Calibri"/>
              </a:defRPr>
            </a:pPr>
            <a:r>
              <a:t>An artifact-driven, multi-agent architecture that builds, evaluates, and hardens voice intent pipelines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18288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0F0F0"/>
                </a:solidFill>
                <a:latin typeface="Calibri"/>
              </a:defRPr>
            </a:pPr>
            <a:r>
              <a:t>Voice Pipelines Optimized</a:t>
            </a:r>
            <a:br/>
            <a:r>
              <a:t>for the Wrong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E5C07B"/>
                </a:solidFill>
                <a:latin typeface="Calibri"/>
              </a:defRPr>
            </a:pPr>
            <a:r>
              <a:t>"She said 'check my balance' and the ASR heard 'check my balance' perfectly.</a:t>
            </a:r>
            <a:br/>
            <a:r>
              <a:t>Word error rate: zero. The pipeline routed her to billing."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sz="1500">
                <a:solidFill>
                  <a:srgbClr val="4EC9B0"/>
                </a:solidFill>
                <a:latin typeface="Calibri"/>
              </a:rPr>
              <a:t>   </a:t>
            </a:r>
            <a:r>
              <a:rPr sz="1500">
                <a:solidFill>
                  <a:srgbClr val="B0B0B0"/>
                </a:solidFill>
                <a:latin typeface="Calibri"/>
              </a:rPr>
              <a:t>WER (Word Error Rate) measures transcription fidelity. It does not measure understanding.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r>
              <a:rPr sz="1500">
                <a:solidFill>
                  <a:srgbClr val="4EC9B0"/>
                </a:solidFill>
                <a:latin typeface="Calibri"/>
              </a:rPr>
              <a:t>   </a:t>
            </a:r>
            <a:r>
              <a:rPr sz="1500">
                <a:solidFill>
                  <a:srgbClr val="B0B0B0"/>
                </a:solidFill>
                <a:latin typeface="Calibri"/>
              </a:rPr>
              <a:t>IER (Intent Error Rate) measures task completion. A perfect transcript can still misroute the caller.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r>
              <a:rPr sz="1500">
                <a:solidFill>
                  <a:srgbClr val="4EC9B0"/>
                </a:solidFill>
                <a:latin typeface="Calibri"/>
              </a:rPr>
              <a:t>   </a:t>
            </a:r>
            <a:r>
              <a:rPr sz="1500">
                <a:solidFill>
                  <a:srgbClr val="B0B0B0"/>
                </a:solidFill>
                <a:latin typeface="Calibri"/>
              </a:rPr>
              <a:t>These are different objectives with different failure modes. Improving WER does not reliably improve IER.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r>
              <a:rPr sz="1500">
                <a:solidFill>
                  <a:srgbClr val="4EC9B0"/>
                </a:solidFill>
                <a:latin typeface="Calibri"/>
              </a:rPr>
              <a:t>   </a:t>
            </a:r>
            <a:r>
              <a:rPr sz="1500">
                <a:solidFill>
                  <a:srgbClr val="B0B0B0"/>
                </a:solidFill>
                <a:latin typeface="Calibri"/>
              </a:rPr>
              <a:t>Most voice pipelines have no eval loop, no attribution, and no improvement signal for intent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Calibri"/>
              </a:defRPr>
            </a:pPr>
            <a:r>
              <a:t>What Actually Breaks: Silent Intent Misclassification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The anatomy of a silent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06C75"/>
                </a:solidFill>
                <a:latin typeface="Calibri"/>
              </a:defRPr>
            </a:pPr>
            <a:r>
              <a:t>Transcript is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"I want to cancel my subscription" comes through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06C75"/>
                </a:solidFill>
                <a:latin typeface="Calibri"/>
              </a:defRPr>
            </a:pPr>
            <a:r>
              <a:t>Intent classifier maps it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Routes to billing_inquiry instead of cancellation.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06C75"/>
                </a:solidFill>
                <a:latin typeface="Calibri"/>
              </a:defRPr>
            </a:pPr>
            <a:r>
              <a:t>No error is raised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The system classified with high confidence.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06C75"/>
                </a:solidFill>
                <a:latin typeface="Calibri"/>
              </a:defRPr>
            </a:pPr>
            <a:r>
              <a:t>No eval loop catches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Pipeline was configured once, tested on 12 examples, deployed.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06C75"/>
                </a:solidFill>
                <a:latin typeface="Calibri"/>
              </a:defRPr>
            </a:pPr>
            <a:r>
              <a:t>No improvement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No data on which intents are confused or which component failed.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The tradeoff triangle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514600"/>
            <a:ext cx="3840480" cy="23774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Transcription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  Accuracy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    /\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   /  \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  / ?? \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 /      \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    /--------\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 Intent      Latency</a:t>
            </a:r>
          </a:p>
          <a:p>
            <a:pPr>
              <a:lnSpc>
                <a:spcPts val="1950"/>
              </a:lnSpc>
              <a:spcAft>
                <a:spcPts val="100"/>
              </a:spcAft>
              <a:defRPr sz="1300">
                <a:solidFill>
                  <a:srgbClr val="4EC9B0"/>
                </a:solidFill>
                <a:latin typeface="Menlo"/>
              </a:defRPr>
            </a:pPr>
            <a:r>
              <a:t> 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20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Calibri"/>
              </a:defRPr>
            </a:pPr>
            <a:r>
              <a:t>Most teams optimize one vertex (transcription accuracy)</a:t>
            </a:r>
            <a:br/>
            <a:r>
              <a:t>and treat the other two as fixed. They're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0F0F0"/>
                </a:solidFill>
                <a:latin typeface="Calibri"/>
              </a:defRPr>
            </a:pPr>
            <a:r>
              <a:t>A Pipeline That Evaluates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E5C07B"/>
                </a:solidFill>
                <a:latin typeface="Calibri"/>
              </a:defRPr>
            </a:pPr>
            <a:r>
              <a:t>"Most voice pipelines are configured once and prayed over.</a:t>
            </a:r>
            <a:br/>
            <a:r>
              <a:t>What if the pipeline generated its own eval suite, ran it, and fixed what broke?"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4EC9B0"/>
                </a:solidFill>
                <a:latin typeface="Calibri"/>
              </a:defRPr>
            </a:pPr>
            <a:r>
              <a:t>Multi-agent build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69080"/>
            <a:ext cx="10241280" cy="21031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Intent Prompt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|-&gt; Parse Intent Schema (IntentSchemaArtifact)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|-&gt; Eval Curator Agent  (EvalDatasetArtifact)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|-&gt; Build Pipeline Graph (PipelineGraphArtifact)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|-&gt; Run Eval Suite       (EvaluationReportArtifact)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|-&gt; IER &lt;= target? -&gt; Pipeline Ready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   NO -&gt; Adversarial Agent (AdversarialFindingsArtifact)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|         -&gt; ETL Agent rewrites config -&gt; Re-evaluate -&gt;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Calibri"/>
              </a:defRPr>
            </a:pPr>
            <a:r>
              <a:t>Artifact-Driven, Not Prompt-Driven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B0"/>
                </a:solidFill>
                <a:latin typeface="Calibri"/>
              </a:defRPr>
            </a:pPr>
            <a:r>
              <a:t>Every agent produces typed, versioned artifacts with explicit lineage. Not loose JSON. Not prompt-and-pray.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4EC9B0"/>
                </a:solidFill>
                <a:latin typeface="Menlo"/>
              </a:defRPr>
            </a:pPr>
            <a:r>
              <a:t>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4EC9B0"/>
                </a:solidFill>
                <a:latin typeface="Menlo"/>
              </a:defRPr>
            </a:pPr>
            <a:r>
              <a:t>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4EC9B0"/>
                </a:solidFill>
                <a:latin typeface="Menlo"/>
              </a:defRPr>
            </a:pPr>
            <a:r>
              <a:t>Produced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51560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69CD6"/>
                </a:solidFill>
                <a:latin typeface="Menlo"/>
              </a:defRPr>
            </a:pPr>
            <a:r>
              <a:t>IntentSchemaArtifact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B0B0B0"/>
                </a:solidFill>
                <a:latin typeface="Calibri"/>
              </a:defRPr>
            </a:pPr>
            <a:r>
              <a:t>Parsed intents, definitions, disambiguation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Schema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69CD6"/>
                </a:solidFill>
                <a:latin typeface="Menlo"/>
              </a:defRPr>
            </a:pPr>
            <a:r>
              <a:t>EvalDatasetArtifact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B0B0B0"/>
                </a:solidFill>
                <a:latin typeface="Calibri"/>
              </a:defRPr>
            </a:pPr>
            <a:r>
              <a:t>Test utterances with splits, phenomenon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Eval Curator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69CD6"/>
                </a:solidFill>
                <a:latin typeface="Menlo"/>
              </a:defRPr>
            </a:pPr>
            <a:r>
              <a:t>PipelineGraphArtifact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B0B0B0"/>
                </a:solidFill>
                <a:latin typeface="Calibri"/>
              </a:defRPr>
            </a:pPr>
            <a:r>
              <a:t>Component specs, edges, full pipeline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ETL Pipeline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69CD6"/>
                </a:solidFill>
                <a:latin typeface="Menlo"/>
              </a:defRPr>
            </a:pPr>
            <a:r>
              <a:t>EvaluationReportArtifact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B0B0B0"/>
                </a:solidFill>
                <a:latin typeface="Calibri"/>
              </a:defRPr>
            </a:pPr>
            <a:r>
              <a:t>IER, confusion matrix, per-intent accuracy, traces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Eval 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69CD6"/>
                </a:solidFill>
                <a:latin typeface="Menlo"/>
              </a:defRPr>
            </a:pPr>
            <a:r>
              <a:t>AdversarialFindingsArtifact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B0B0B0"/>
                </a:solidFill>
                <a:latin typeface="Calibri"/>
              </a:defRPr>
            </a:pPr>
            <a:r>
              <a:t>Failure clusters, adversarial examples, fix proposals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Adversarial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Every artifact carries an ArtifactRef for lineage tracking: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40680"/>
            <a:ext cx="4754880" cy="11887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100"/>
              </a:spcAft>
              <a:defRPr sz="1200">
                <a:solidFill>
                  <a:srgbClr val="4EC9B0"/>
                </a:solidFill>
                <a:latin typeface="Menlo"/>
              </a:defRPr>
            </a:pPr>
            <a:r>
              <a:t>class ArtifactRef(BaseModel):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200">
                <a:solidFill>
                  <a:srgbClr val="4EC9B0"/>
                </a:solidFill>
                <a:latin typeface="Menlo"/>
              </a:defRPr>
            </a:pPr>
            <a:r>
              <a:t>    artifact_id: str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200">
                <a:solidFill>
                  <a:srgbClr val="4EC9B0"/>
                </a:solidFill>
                <a:latin typeface="Menlo"/>
              </a:defRPr>
            </a:pPr>
            <a:r>
              <a:t>    artifact_type: ArtifactType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200">
                <a:solidFill>
                  <a:srgbClr val="4EC9B0"/>
                </a:solidFill>
                <a:latin typeface="Menlo"/>
              </a:defRPr>
            </a:pPr>
            <a:r>
              <a:t>    pipeline_id: str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200">
                <a:solidFill>
                  <a:srgbClr val="4EC9B0"/>
                </a:solidFill>
                <a:latin typeface="Menlo"/>
              </a:defRPr>
            </a:pPr>
            <a:r>
              <a:t>    version: 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Calibri"/>
              </a:defRPr>
            </a:pPr>
            <a:r>
              <a:t>The Component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B0"/>
                </a:solidFill>
                <a:latin typeface="Calibri"/>
              </a:defRPr>
            </a:pPr>
            <a:r>
              <a:t>Not a monolith. A directed graph of independently tunable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92024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920240" cy="1645920"/>
          </a:xfrm>
          <a:prstGeom prst="rect">
            <a:avLst/>
          </a:prstGeom>
          <a:noFill/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4EC9B0"/>
                </a:solidFill>
                <a:latin typeface="Calibri"/>
              </a:defRPr>
            </a:pPr>
            <a:r>
              <a:t>ASR</a:t>
            </a:r>
            <a:br/>
            <a:r>
              <a:t>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provider, model</a:t>
            </a:r>
            <a:br/>
            <a:r>
              <a:t>keyword_hints, n_best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EC9B0"/>
                </a:solidFill>
                <a:latin typeface="Menlo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560320"/>
            <a:ext cx="192024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560320"/>
            <a:ext cx="1920240" cy="1645920"/>
          </a:xfrm>
          <a:prstGeom prst="rect">
            <a:avLst/>
          </a:prstGeom>
          <a:noFill/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4EC9B0"/>
                </a:solidFill>
                <a:latin typeface="Calibri"/>
              </a:defRPr>
            </a:pPr>
            <a:r>
              <a:t>Transcript</a:t>
            </a:r>
            <a:br/>
            <a:r>
              <a:t>Normalizer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strip_fillers, lowercase</a:t>
            </a:r>
            <a:br/>
            <a:r>
              <a:t>canonical_replacements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EC9B0"/>
                </a:solidFill>
                <a:latin typeface="Menlo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560320"/>
            <a:ext cx="192024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560320"/>
            <a:ext cx="1920240" cy="1645920"/>
          </a:xfrm>
          <a:prstGeom prst="rect">
            <a:avLst/>
          </a:prstGeom>
          <a:noFill/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4EC9B0"/>
                </a:solidFill>
                <a:latin typeface="Calibri"/>
              </a:defRPr>
            </a:pPr>
            <a:r>
              <a:t>Intent</a:t>
            </a:r>
            <a:br/>
            <a: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system_prompt, model</a:t>
            </a:r>
            <a:br/>
            <a:r>
              <a:t>few_shot_examples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EC9B0"/>
                </a:solidFill>
                <a:latin typeface="Menlo"/>
              </a:defRPr>
            </a:pPr>
            <a: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560320"/>
            <a:ext cx="192024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2560320"/>
            <a:ext cx="1920240" cy="1645920"/>
          </a:xfrm>
          <a:prstGeom prst="rect">
            <a:avLst/>
          </a:prstGeom>
          <a:noFill/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4EC9B0"/>
                </a:solidFill>
                <a:latin typeface="Calibri"/>
              </a:defRPr>
            </a:pPr>
            <a:r>
              <a:t>Candidate</a:t>
            </a:r>
            <a:br/>
            <a:r>
              <a:t>Reranker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291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rerank_prompt</a:t>
            </a:r>
            <a:br/>
            <a:r>
              <a:t>top_k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EC9B0"/>
                </a:solidFill>
                <a:latin typeface="Menlo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560320"/>
            <a:ext cx="192024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2560320"/>
            <a:ext cx="1920240" cy="1645920"/>
          </a:xfrm>
          <a:prstGeom prst="rect">
            <a:avLst/>
          </a:prstGeom>
          <a:noFill/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4EC9B0"/>
                </a:solidFill>
                <a:latin typeface="Calibri"/>
              </a:defRPr>
            </a:pPr>
            <a:r>
              <a:t>Decision</a:t>
            </a:r>
            <a:br/>
            <a:r>
              <a:t>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91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confidence_threshold</a:t>
            </a:r>
            <a:br/>
            <a:r>
              <a:t>margin,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When the adversarial agent finds a failure cluster, component isolation tells it where to fix:</a:t>
            </a:r>
            <a:br/>
            <a:r>
              <a:t>  ASR garbling a word?  Update keyword_hints.</a:t>
            </a:r>
            <a:br/>
            <a:r>
              <a:t>  Classifier confusing two intents?  Rewrite system_prompt.</a:t>
            </a:r>
            <a:br/>
            <a:r>
              <a:t>  Low-confidence routing instead of abstaining?  Adjust confidence_threshold.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Three Agents, One Improvement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5C07B"/>
                </a:solidFill>
                <a:latin typeface="Calibri"/>
              </a:defRPr>
            </a:pPr>
            <a:r>
              <a:t>"The improvement loop is the pipeline. Everything else is configuration."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3383280" cy="3200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3383280" cy="3200400"/>
          </a:xfrm>
          <a:prstGeom prst="rect">
            <a:avLst/>
          </a:prstGeom>
          <a:noFill/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Eval Curator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03320"/>
            <a:ext cx="3017520" cy="127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4EC9B0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Generates diverse test utterances from intent schema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4EC9B0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Phenomenon tags: filler_words, polite, question, out_of_domain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4EC9B0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Three splits: train / dev / immutable holdout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4EC9B0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Coverage tracking per intent per 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200400"/>
            <a:ext cx="3383280" cy="3200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3200400"/>
            <a:ext cx="3383280" cy="3200400"/>
          </a:xfrm>
          <a:prstGeom prst="rect">
            <a:avLst/>
          </a:prstGeom>
          <a:noFill/>
          <a:ln w="1905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569CD6"/>
                </a:solidFill>
                <a:latin typeface="Calibri"/>
              </a:defRPr>
            </a:pPr>
            <a:r>
              <a:t>ETL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703320"/>
            <a:ext cx="3017520" cy="127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79476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569CD6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Tool-use loop: store_evals -&gt; run_eval_suite -&gt; analyze_failures -&gt; update_prompt_config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569CD6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Rewrites classifier system prompt based on empirical failures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569CD6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Adjusts confidence threshold and ASR keyword hints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569CD6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Iterates until IER converges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200400"/>
            <a:ext cx="3383280" cy="3200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3200400"/>
            <a:ext cx="3383280" cy="3200400"/>
          </a:xfrm>
          <a:prstGeom prst="rect">
            <a:avLst/>
          </a:prstGeom>
          <a:noFill/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06C75"/>
                </a:solidFill>
                <a:latin typeface="Calibri"/>
              </a:defRPr>
            </a:pPr>
            <a:r>
              <a:t>Adversarial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03320"/>
            <a:ext cx="3017520" cy="127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79476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E06C75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Clusters failures by confused intent pairs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E06C75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Generates targeted edge cases for each failure mode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E06C75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Proposes component-level fixes (hints, prompts, thresholds)</a:t>
            </a:r>
          </a:p>
          <a:p>
            <a:pPr>
              <a:lnSpc>
                <a:spcPts val="1539"/>
              </a:lnSpc>
              <a:spcAft>
                <a:spcPts val="800"/>
              </a:spcAft>
            </a:pPr>
            <a:r>
              <a:rPr sz="1100">
                <a:solidFill>
                  <a:srgbClr val="E06C75"/>
                </a:solidFill>
                <a:latin typeface="Calibri"/>
              </a:rPr>
              <a:t>   </a:t>
            </a:r>
            <a:r>
              <a:rPr sz="1100">
                <a:solidFill>
                  <a:srgbClr val="B0B0B0"/>
                </a:solidFill>
                <a:latin typeface="Calibri"/>
              </a:rPr>
              <a:t>Expands eval set, triggers re-optimization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Calibri"/>
              </a:defRPr>
            </a:pPr>
            <a:r>
              <a:t>The Loop in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0241280" cy="42062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Iteration 0: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Eval Curator  --&gt;  49 examples (7 per intent x 6 intents + 7 fallback)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ETL Agent     --&gt;  runs eval, IER = 0.22, rewrites prompt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ETL Agent     --&gt;  re-runs eval, IER = 0.14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Iteration 1:  IER 0.14 &gt; target 0.08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Adversarial   --&gt;  clusters 7 failures into 3 groups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Adversarial   --&gt;  generates 21 adversarial examples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ETL Agent     --&gt;  re-optimizes with 70 examples, IER = 0.10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Iteration 2:  IER 0.10 &gt; target 0.08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Adversarial   --&gt;  clusters 7 failures into 2 groups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Adversarial   --&gt;  generates 21 more adversarial examples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ETL Agent     --&gt;  re-optimizes with 91 examples, IER = 0.07</a:t>
            </a: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</a:p>
          <a:p>
            <a:pPr>
              <a:lnSpc>
                <a:spcPts val="2250"/>
              </a:lnSpc>
              <a:spcAft>
                <a:spcPts val="100"/>
              </a:spcAft>
              <a:defRPr sz="1500">
                <a:solidFill>
                  <a:srgbClr val="4EC9B0"/>
                </a:solidFill>
                <a:latin typeface="Menlo"/>
              </a:defRPr>
            </a:pPr>
            <a:r>
              <a:t>  IER 0.07 &lt;= target 0.08  --&gt;  Pipeline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Three iterations. Zero human intervention. IER: 22% -&gt; 7%.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Calibri"/>
              </a:defRPr>
            </a:pPr>
            <a:r>
              <a:t>What Changes Operationally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06C7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Product manager writes intent descriptions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Engineer writes a classifier prompt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Engineer tests with 5-10 examples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Deploy and hope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Customer complaints surface failures weeks later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E06C75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Manually adjust prompt, repeat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828800"/>
            <a:ext cx="12700" cy="4114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4EC9B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Product manager writes intent descriptions via a prompt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System builds, tests, and hardens the pipeline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Status polling shows progress: eval curator done, IER at 0.12...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Pipeline reaches target IER, becomes ready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Invoke uses optimized config (prompt, thresholds, hints)</a:t>
            </a:r>
          </a:p>
          <a:p>
            <a:pPr>
              <a:lnSpc>
                <a:spcPts val="1959"/>
              </a:lnSpc>
              <a:spcAft>
                <a:spcPts val="800"/>
              </a:spcAft>
            </a:pPr>
            <a:r>
              <a:rPr sz="1400">
                <a:solidFill>
                  <a:srgbClr val="4EC9B0"/>
                </a:solidFill>
                <a:latin typeface="Calibri"/>
              </a:rPr>
              <a:t>   </a:t>
            </a:r>
            <a:r>
              <a:rPr sz="1400">
                <a:solidFill>
                  <a:srgbClr val="B0B0B0"/>
                </a:solidFill>
                <a:latin typeface="Calibri"/>
              </a:rPr>
              <a:t>New intents? Re-run the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0F0F0"/>
                </a:solidFill>
                <a:latin typeface="Calibri"/>
              </a:defRPr>
            </a:pPr>
            <a:r>
              <a:t>From Prompt-and-Pray</a:t>
            </a:r>
            <a:br/>
            <a:r>
              <a:t>to Continuous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5C07B"/>
                </a:solidFill>
                <a:latin typeface="Calibri"/>
              </a:defRPr>
            </a:pPr>
            <a:r>
              <a:t>"Every voice pipeline in production today is exactly as good as the day it was deployed. This one gets better."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No manual prompt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ETL agent rewrites prompts based on empirical failure data, then re-evaluates to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No hand-curated test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Eval Curator generates diverse examples with phenomenon coverage. Adversarial agent extends with edge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4EC9B0"/>
                </a:solidFill>
                <a:latin typeface="Calibri"/>
              </a:defRPr>
            </a:pPr>
            <a:r>
              <a:t>No "it works on my examples"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Immutable holdout split catches overfitting. Three-way split: the difference between 'it works' and 'it generalizes.'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Menlo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0F0F0"/>
                </a:solidFill>
                <a:latin typeface="Calibri"/>
              </a:defRPr>
            </a:pPr>
            <a:r>
              <a:t>The Tradeoff You're Actually Navigating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4297680" cy="265176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  Accuracy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    /\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   /  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  /    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 / your 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 / pipeline\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 /   here    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   /--------------\</a:t>
            </a:r>
          </a:p>
          <a:p>
            <a:pPr>
              <a:lnSpc>
                <a:spcPts val="2100"/>
              </a:lnSpc>
              <a:spcAft>
                <a:spcPts val="100"/>
              </a:spcAft>
              <a:defRPr sz="1400">
                <a:solidFill>
                  <a:srgbClr val="4EC9B0"/>
                </a:solidFill>
                <a:latin typeface="Menlo"/>
              </a:defRPr>
            </a:pPr>
            <a:r>
              <a:t>  Cost            Adaptability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800"/>
              </a:spcAft>
            </a:pPr>
            <a:r>
              <a:rPr sz="1300">
                <a:solidFill>
                  <a:srgbClr val="4EC9B0"/>
                </a:solidFill>
                <a:latin typeface="Calibri"/>
              </a:rPr>
              <a:t>   </a:t>
            </a:r>
            <a:r>
              <a:rPr sz="1300">
                <a:solidFill>
                  <a:srgbClr val="B0B0B0"/>
                </a:solidFill>
                <a:latin typeface="Calibri"/>
              </a:rPr>
              <a:t>Accuracy: How often does intent classification succeed? (IER on holdout)</a:t>
            </a:r>
          </a:p>
          <a:p>
            <a:pPr>
              <a:lnSpc>
                <a:spcPts val="1820"/>
              </a:lnSpc>
              <a:spcAft>
                <a:spcPts val="800"/>
              </a:spcAft>
            </a:pPr>
            <a:r>
              <a:rPr sz="1300">
                <a:solidFill>
                  <a:srgbClr val="4EC9B0"/>
                </a:solidFill>
                <a:latin typeface="Calibri"/>
              </a:rPr>
              <a:t>   </a:t>
            </a:r>
            <a:r>
              <a:rPr sz="1300">
                <a:solidFill>
                  <a:srgbClr val="B0B0B0"/>
                </a:solidFill>
                <a:latin typeface="Calibri"/>
              </a:rPr>
              <a:t>Cost: API calls, compute, latency per classification</a:t>
            </a:r>
          </a:p>
          <a:p>
            <a:pPr>
              <a:lnSpc>
                <a:spcPts val="1820"/>
              </a:lnSpc>
              <a:spcAft>
                <a:spcPts val="800"/>
              </a:spcAft>
            </a:pPr>
            <a:r>
              <a:rPr sz="1300">
                <a:solidFill>
                  <a:srgbClr val="4EC9B0"/>
                </a:solidFill>
                <a:latin typeface="Calibri"/>
              </a:rPr>
              <a:t>   </a:t>
            </a:r>
            <a:r>
              <a:rPr sz="1300">
                <a:solidFill>
                  <a:srgbClr val="B0B0B0"/>
                </a:solidFill>
                <a:latin typeface="Calibri"/>
              </a:rPr>
              <a:t>Adaptability: How quickly can the pipeline adjust to new intents?</a:t>
            </a:r>
          </a:p>
          <a:p>
            <a:pPr>
              <a:lnSpc>
                <a:spcPts val="1820"/>
              </a:lnSpc>
              <a:spcAft>
                <a:spcPts val="800"/>
              </a:spcAft>
            </a:pPr>
            <a:r>
              <a:rPr sz="1300">
                <a:solidFill>
                  <a:srgbClr val="4EC9B0"/>
                </a:solidFill>
                <a:latin typeface="Calibri"/>
              </a:rPr>
              <a:t>   </a:t>
            </a:r>
            <a:r>
              <a:rPr sz="1300">
                <a:solidFill>
                  <a:srgbClr val="B0B0B0"/>
                </a:solidFill>
                <a:latin typeface="Calibri"/>
              </a:rPr>
              <a:t>The artifact architecture lets you move along this surface deliberately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515600" cy="127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2400" b="1">
                <a:solidFill>
                  <a:srgbClr val="F0F0F0"/>
                </a:solidFill>
                <a:latin typeface="Calibri"/>
              </a:defRPr>
            </a:pPr>
            <a:r>
              <a:t>The pipeline isn't the ASR model or the classifier.</a:t>
            </a:r>
            <a:br/>
            <a:r>
              <a:t>The pipeline is the loop that improves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